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</p:sldIdLst>
  <p:sldSz cx="18288000" cy="10287000"/>
  <p:notesSz cx="6858000" cy="9144000"/>
  <p:embeddedFontLst>
    <p:embeddedFont>
      <p:font typeface="Canva Sans" panose="020B0604020202020204" charset="0"/>
      <p:regular r:id="rId11"/>
    </p:embeddedFont>
    <p:embeddedFont>
      <p:font typeface="Canva Sans Bold" panose="020B0604020202020204" charset="0"/>
      <p:regular r:id="rId12"/>
    </p:embeddedFont>
    <p:embeddedFont>
      <p:font typeface="TT Drugs Bold" panose="020B0604020202020204" charset="0"/>
      <p:regular r:id="rId13"/>
    </p:embeddedFont>
    <p:embeddedFont>
      <p:font typeface="TT Hoves" panose="020B0604020202020204" charset="0"/>
      <p:regular r:id="rId14"/>
    </p:embeddedFont>
    <p:embeddedFont>
      <p:font typeface="TT Hoves Bold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halakshmi Inaganti" userId="c1a68868ce02c7f3" providerId="LiveId" clId="{F1559705-9805-47BD-9345-0169E20455B7}"/>
    <pc:docChg chg="modSld">
      <pc:chgData name="Mahalakshmi Inaganti" userId="c1a68868ce02c7f3" providerId="LiveId" clId="{F1559705-9805-47BD-9345-0169E20455B7}" dt="2025-10-10T17:21:51.918" v="3" actId="20577"/>
      <pc:docMkLst>
        <pc:docMk/>
      </pc:docMkLst>
      <pc:sldChg chg="modSp mod">
        <pc:chgData name="Mahalakshmi Inaganti" userId="c1a68868ce02c7f3" providerId="LiveId" clId="{F1559705-9805-47BD-9345-0169E20455B7}" dt="2025-10-10T17:21:51.918" v="3" actId="20577"/>
        <pc:sldMkLst>
          <pc:docMk/>
          <pc:sldMk cId="0" sldId="260"/>
        </pc:sldMkLst>
        <pc:spChg chg="mod">
          <ac:chgData name="Mahalakshmi Inaganti" userId="c1a68868ce02c7f3" providerId="LiveId" clId="{F1559705-9805-47BD-9345-0169E20455B7}" dt="2025-10-10T17:21:51.918" v="3" actId="20577"/>
          <ac:spMkLst>
            <pc:docMk/>
            <pc:sldMk cId="0" sldId="260"/>
            <ac:spMk id="9" creationId="{00000000-0000-0000-0000-000000000000}"/>
          </ac:spMkLst>
        </pc:spChg>
      </pc:sldChg>
    </pc:docChg>
  </pc:docChgLst>
  <pc:docChgLst>
    <pc:chgData name="Mahalakshmi Inaganti" userId="c1a68868ce02c7f3" providerId="LiveId" clId="{75B06DD6-5685-439F-9FF3-A9BC9DE4E744}"/>
    <pc:docChg chg="delSld">
      <pc:chgData name="Mahalakshmi Inaganti" userId="c1a68868ce02c7f3" providerId="LiveId" clId="{75B06DD6-5685-439F-9FF3-A9BC9DE4E744}" dt="2025-08-25T10:20:28.255" v="0" actId="47"/>
      <pc:docMkLst>
        <pc:docMk/>
      </pc:docMkLst>
      <pc:sldChg chg="del">
        <pc:chgData name="Mahalakshmi Inaganti" userId="c1a68868ce02c7f3" providerId="LiveId" clId="{75B06DD6-5685-439F-9FF3-A9BC9DE4E744}" dt="2025-08-25T10:20:28.255" v="0" actId="47"/>
        <pc:sldMkLst>
          <pc:docMk/>
          <pc:sldMk cId="0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10/10/2025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image" Target="../media/image7.svg"/><Relationship Id="rId7" Type="http://schemas.openxmlformats.org/officeDocument/2006/relationships/image" Target="../media/image1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sv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sv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7.svg"/><Relationship Id="rId7" Type="http://schemas.openxmlformats.org/officeDocument/2006/relationships/image" Target="../media/image1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7" Type="http://schemas.openxmlformats.org/officeDocument/2006/relationships/image" Target="../media/image1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sv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924962" y="0"/>
            <a:ext cx="16363038" cy="8520557"/>
            <a:chOff x="0" y="0"/>
            <a:chExt cx="4309607" cy="2244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309607" cy="2244097"/>
            </a:xfrm>
            <a:custGeom>
              <a:avLst/>
              <a:gdLst/>
              <a:ahLst/>
              <a:cxnLst/>
              <a:rect l="l" t="t" r="r" b="b"/>
              <a:pathLst>
                <a:path w="4309607" h="2244097">
                  <a:moveTo>
                    <a:pt x="0" y="0"/>
                  </a:moveTo>
                  <a:lnTo>
                    <a:pt x="4309607" y="0"/>
                  </a:lnTo>
                  <a:lnTo>
                    <a:pt x="4309607" y="2244097"/>
                  </a:lnTo>
                  <a:lnTo>
                    <a:pt x="0" y="22440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309607" cy="228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>
            <a:off x="-350272" y="9277350"/>
            <a:ext cx="147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6" name="Freeform 6"/>
          <p:cNvSpPr/>
          <p:nvPr/>
        </p:nvSpPr>
        <p:spPr>
          <a:xfrm rot="5400000">
            <a:off x="-723249" y="2257023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14623484" y="485609"/>
            <a:ext cx="3075506" cy="796465"/>
          </a:xfrm>
          <a:custGeom>
            <a:avLst/>
            <a:gdLst/>
            <a:ahLst/>
            <a:cxnLst/>
            <a:rect l="l" t="t" r="r" b="b"/>
            <a:pathLst>
              <a:path w="3075506" h="796465">
                <a:moveTo>
                  <a:pt x="0" y="0"/>
                </a:moveTo>
                <a:lnTo>
                  <a:pt x="3075506" y="0"/>
                </a:lnTo>
                <a:lnTo>
                  <a:pt x="3075506" y="796465"/>
                </a:lnTo>
                <a:lnTo>
                  <a:pt x="0" y="79646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14406931" y="8912543"/>
            <a:ext cx="3508612" cy="6724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625"/>
              </a:lnSpc>
              <a:spcBef>
                <a:spcPct val="0"/>
              </a:spcBef>
            </a:pPr>
            <a:r>
              <a:rPr lang="en-US" sz="2100" spc="17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SCHOOL OF ARTIFICIAL INTELLIGENCE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4605659" y="3038608"/>
            <a:ext cx="10402024" cy="12060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653" spc="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ADOM:ADMM-Based Optimization Model </a:t>
            </a:r>
          </a:p>
          <a:p>
            <a:pPr algn="ctr">
              <a:lnSpc>
                <a:spcPts val="4567"/>
              </a:lnSpc>
              <a:spcBef>
                <a:spcPct val="0"/>
              </a:spcBef>
            </a:pPr>
            <a:r>
              <a:rPr lang="en-US" sz="3653" spc="295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for Stripe Noise Removal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850655" y="6440108"/>
            <a:ext cx="6511651" cy="1513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453" spc="19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B SAI KRISHNA - CB.SC.U4AIE24308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453" spc="19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 NAGA SHIVA - CB.SC.U4AIE24315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453" spc="19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SAI MOHITH E - CB.SC.U4AIE24316</a:t>
            </a:r>
          </a:p>
          <a:p>
            <a:pPr algn="l">
              <a:lnSpc>
                <a:spcPts val="3067"/>
              </a:lnSpc>
              <a:spcBef>
                <a:spcPct val="0"/>
              </a:spcBef>
            </a:pPr>
            <a:r>
              <a:rPr lang="en-US" sz="2453" spc="19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 MAHALAKSHMI - CB.SC.U4AIE24322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9026950" y="5683278"/>
            <a:ext cx="1559443" cy="4121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49"/>
              </a:lnSpc>
              <a:spcBef>
                <a:spcPct val="0"/>
              </a:spcBef>
            </a:pPr>
            <a:r>
              <a:rPr lang="en-US" sz="2599" spc="21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TEAM-6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6850655" y="544839"/>
            <a:ext cx="5183760" cy="737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399" spc="19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22MAT220</a:t>
            </a:r>
          </a:p>
          <a:p>
            <a:pPr algn="ctr">
              <a:lnSpc>
                <a:spcPts val="2999"/>
              </a:lnSpc>
              <a:spcBef>
                <a:spcPct val="0"/>
              </a:spcBef>
            </a:pPr>
            <a:r>
              <a:rPr lang="en-US" sz="2399" spc="19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Mathematics for Computing 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7780288" y="9386570"/>
            <a:ext cx="135255" cy="349250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028700" y="9022583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TextBox 3"/>
          <p:cNvSpPr txBox="1"/>
          <p:nvPr/>
        </p:nvSpPr>
        <p:spPr>
          <a:xfrm>
            <a:off x="7045406" y="480695"/>
            <a:ext cx="3837027" cy="5403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249"/>
              </a:lnSpc>
              <a:spcBef>
                <a:spcPct val="0"/>
              </a:spcBef>
            </a:pPr>
            <a:r>
              <a:rPr lang="en-US" sz="3399" b="1" spc="275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INTRODUCTION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28700" y="2009836"/>
            <a:ext cx="16230600" cy="65519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90874" lvl="1" indent="-345437" algn="l">
              <a:lnSpc>
                <a:spcPts val="3999"/>
              </a:lnSpc>
              <a:buFont typeface="Arial"/>
              <a:buChar char="•"/>
            </a:pPr>
            <a:r>
              <a:rPr lang="en-US" sz="3199" spc="25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Remote sensing images (RSI) are essential for Earth observation, climate monitoring, weather prediction, disaster management.</a:t>
            </a:r>
          </a:p>
          <a:p>
            <a:pPr algn="l">
              <a:lnSpc>
                <a:spcPts val="3999"/>
              </a:lnSpc>
            </a:pPr>
            <a:endParaRPr lang="en-US" sz="3199" spc="259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90874" lvl="1" indent="-345437" algn="l">
              <a:lnSpc>
                <a:spcPts val="3999"/>
              </a:lnSpc>
              <a:buFont typeface="Arial"/>
              <a:buChar char="•"/>
            </a:pPr>
            <a:r>
              <a:rPr lang="en-US" sz="3199" spc="25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RSI often contains stripe noise due to physical sensor limitations (detector gain/offset differences).</a:t>
            </a:r>
          </a:p>
          <a:p>
            <a:pPr algn="l">
              <a:lnSpc>
                <a:spcPts val="3999"/>
              </a:lnSpc>
            </a:pPr>
            <a:endParaRPr lang="en-US" sz="3199" spc="259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90874" lvl="1" indent="-345437" algn="l">
              <a:lnSpc>
                <a:spcPts val="3999"/>
              </a:lnSpc>
              <a:buFont typeface="Arial"/>
              <a:buChar char="•"/>
            </a:pPr>
            <a:r>
              <a:rPr lang="en-US" sz="3199" spc="25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Stripe noise affects Visual quality and Image analysis tasks like classification and object detection.</a:t>
            </a:r>
          </a:p>
          <a:p>
            <a:pPr algn="l">
              <a:lnSpc>
                <a:spcPts val="3999"/>
              </a:lnSpc>
            </a:pPr>
            <a:endParaRPr lang="en-US" sz="3199" spc="259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90874" lvl="1" indent="-345437" algn="l">
              <a:lnSpc>
                <a:spcPts val="3999"/>
              </a:lnSpc>
              <a:buFont typeface="Arial"/>
              <a:buChar char="•"/>
            </a:pPr>
            <a:r>
              <a:rPr lang="en-US" sz="3199" spc="25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Hardware upgrades alone cannot completely remove stripe noise.</a:t>
            </a:r>
          </a:p>
          <a:p>
            <a:pPr algn="l">
              <a:lnSpc>
                <a:spcPts val="3999"/>
              </a:lnSpc>
            </a:pPr>
            <a:endParaRPr lang="en-US" sz="3199" spc="259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90874" lvl="1" indent="-345437" algn="l">
              <a:lnSpc>
                <a:spcPts val="3999"/>
              </a:lnSpc>
              <a:buFont typeface="Arial"/>
              <a:buChar char="•"/>
            </a:pPr>
            <a:r>
              <a:rPr lang="en-US" sz="3199" spc="259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Image destriping is necessary to preserve image details while removing noise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4699568" y="1240494"/>
            <a:ext cx="3547198" cy="7094397"/>
          </a:xfrm>
          <a:custGeom>
            <a:avLst/>
            <a:gdLst/>
            <a:ahLst/>
            <a:cxnLst/>
            <a:rect l="l" t="t" r="r" b="b"/>
            <a:pathLst>
              <a:path w="3547198" h="7094397">
                <a:moveTo>
                  <a:pt x="0" y="0"/>
                </a:moveTo>
                <a:lnTo>
                  <a:pt x="3547198" y="0"/>
                </a:lnTo>
                <a:lnTo>
                  <a:pt x="3547198" y="7094397"/>
                </a:lnTo>
                <a:lnTo>
                  <a:pt x="0" y="70943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3958651" y="2520769"/>
            <a:ext cx="12166397" cy="1483210"/>
            <a:chOff x="0" y="0"/>
            <a:chExt cx="3204318" cy="39064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3204319" cy="390640"/>
            </a:xfrm>
            <a:custGeom>
              <a:avLst/>
              <a:gdLst/>
              <a:ahLst/>
              <a:cxnLst/>
              <a:rect l="l" t="t" r="r" b="b"/>
              <a:pathLst>
                <a:path w="3204319" h="390640">
                  <a:moveTo>
                    <a:pt x="63634" y="0"/>
                  </a:moveTo>
                  <a:lnTo>
                    <a:pt x="3140685" y="0"/>
                  </a:lnTo>
                  <a:cubicBezTo>
                    <a:pt x="3175829" y="0"/>
                    <a:pt x="3204319" y="28490"/>
                    <a:pt x="3204319" y="63634"/>
                  </a:cubicBezTo>
                  <a:lnTo>
                    <a:pt x="3204319" y="327006"/>
                  </a:lnTo>
                  <a:cubicBezTo>
                    <a:pt x="3204319" y="343883"/>
                    <a:pt x="3197614" y="360068"/>
                    <a:pt x="3185681" y="372002"/>
                  </a:cubicBezTo>
                  <a:cubicBezTo>
                    <a:pt x="3173747" y="383935"/>
                    <a:pt x="3157562" y="390640"/>
                    <a:pt x="3140685" y="390640"/>
                  </a:cubicBezTo>
                  <a:lnTo>
                    <a:pt x="63634" y="390640"/>
                  </a:lnTo>
                  <a:cubicBezTo>
                    <a:pt x="46757" y="390640"/>
                    <a:pt x="30571" y="383935"/>
                    <a:pt x="18638" y="372002"/>
                  </a:cubicBezTo>
                  <a:cubicBezTo>
                    <a:pt x="6704" y="360068"/>
                    <a:pt x="0" y="343883"/>
                    <a:pt x="0" y="327006"/>
                  </a:cubicBezTo>
                  <a:lnTo>
                    <a:pt x="0" y="63634"/>
                  </a:lnTo>
                  <a:cubicBezTo>
                    <a:pt x="0" y="46757"/>
                    <a:pt x="6704" y="30571"/>
                    <a:pt x="18638" y="18638"/>
                  </a:cubicBezTo>
                  <a:cubicBezTo>
                    <a:pt x="30571" y="6704"/>
                    <a:pt x="46757" y="0"/>
                    <a:pt x="6363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6" name="TextBox 6"/>
            <p:cNvSpPr txBox="1"/>
            <p:nvPr/>
          </p:nvSpPr>
          <p:spPr>
            <a:xfrm>
              <a:off x="0" y="-19050"/>
              <a:ext cx="3204318" cy="409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1342155" y="1734397"/>
            <a:ext cx="6106592" cy="6106592"/>
            <a:chOff x="0" y="0"/>
            <a:chExt cx="812800" cy="81280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6"/>
              <a:stretch>
                <a:fillRect l="-26335" r="-26335"/>
              </a:stretch>
            </a:blipFill>
          </p:spPr>
        </p:sp>
      </p:grpSp>
      <p:sp>
        <p:nvSpPr>
          <p:cNvPr id="9" name="Freeform 9"/>
          <p:cNvSpPr/>
          <p:nvPr/>
        </p:nvSpPr>
        <p:spPr>
          <a:xfrm>
            <a:off x="14001968" y="9317355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9414128" y="2771202"/>
            <a:ext cx="4080867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OBJECTIVES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74950" y="4564215"/>
            <a:ext cx="6978968" cy="376428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82927" lvl="1" indent="-291463" algn="l">
              <a:lnSpc>
                <a:spcPts val="3374"/>
              </a:lnSpc>
              <a:buFont typeface="Arial"/>
              <a:buChar char="•"/>
            </a:pPr>
            <a:r>
              <a:rPr lang="en-US" sz="2699" spc="21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To Remove stripe noise from images  while preserving image details like edges and textures.</a:t>
            </a:r>
          </a:p>
          <a:p>
            <a:pPr algn="l">
              <a:lnSpc>
                <a:spcPts val="3374"/>
              </a:lnSpc>
            </a:pPr>
            <a:endParaRPr lang="en-US" sz="2699" spc="218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582927" lvl="1" indent="-291463" algn="l">
              <a:lnSpc>
                <a:spcPts val="3374"/>
              </a:lnSpc>
              <a:buFont typeface="Arial"/>
              <a:buChar char="•"/>
            </a:pPr>
            <a:r>
              <a:rPr lang="en-US" sz="2699" spc="21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Detect stripes effectively using weighted norms.</a:t>
            </a:r>
          </a:p>
          <a:p>
            <a:pPr algn="l">
              <a:lnSpc>
                <a:spcPts val="3374"/>
              </a:lnSpc>
            </a:pPr>
            <a:endParaRPr lang="en-US" sz="2699" spc="218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582927" lvl="1" indent="-291463" algn="l">
              <a:lnSpc>
                <a:spcPts val="3374"/>
              </a:lnSpc>
              <a:buFont typeface="Arial"/>
              <a:buChar char="•"/>
            </a:pPr>
            <a:r>
              <a:rPr lang="en-US" sz="2699" spc="218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Accelerate optimization with ADMM for fast convergence.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-666012" y="8803790"/>
            <a:ext cx="13451137" cy="1483210"/>
            <a:chOff x="0" y="0"/>
            <a:chExt cx="3542686" cy="39064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3542686" cy="390640"/>
            </a:xfrm>
            <a:custGeom>
              <a:avLst/>
              <a:gdLst/>
              <a:ahLst/>
              <a:cxnLst/>
              <a:rect l="l" t="t" r="r" b="b"/>
              <a:pathLst>
                <a:path w="3542686" h="390640">
                  <a:moveTo>
                    <a:pt x="57556" y="0"/>
                  </a:moveTo>
                  <a:lnTo>
                    <a:pt x="3485131" y="0"/>
                  </a:lnTo>
                  <a:cubicBezTo>
                    <a:pt x="3516918" y="0"/>
                    <a:pt x="3542686" y="25769"/>
                    <a:pt x="3542686" y="57556"/>
                  </a:cubicBezTo>
                  <a:lnTo>
                    <a:pt x="3542686" y="333084"/>
                  </a:lnTo>
                  <a:cubicBezTo>
                    <a:pt x="3542686" y="364871"/>
                    <a:pt x="3516918" y="390640"/>
                    <a:pt x="3485131" y="390640"/>
                  </a:cubicBezTo>
                  <a:lnTo>
                    <a:pt x="57556" y="390640"/>
                  </a:lnTo>
                  <a:cubicBezTo>
                    <a:pt x="25769" y="390640"/>
                    <a:pt x="0" y="364871"/>
                    <a:pt x="0" y="333084"/>
                  </a:cubicBezTo>
                  <a:lnTo>
                    <a:pt x="0" y="57556"/>
                  </a:lnTo>
                  <a:cubicBezTo>
                    <a:pt x="0" y="25769"/>
                    <a:pt x="25769" y="0"/>
                    <a:pt x="57556" y="0"/>
                  </a:cubicBezTo>
                  <a:close/>
                </a:path>
              </a:pathLst>
            </a:custGeom>
            <a:solidFill>
              <a:srgbClr val="92B8DD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19050"/>
              <a:ext cx="3542686" cy="409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755402" y="9022583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6114665" y="631337"/>
            <a:ext cx="5015984" cy="4756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74"/>
              </a:lnSpc>
              <a:spcBef>
                <a:spcPct val="0"/>
              </a:spcBef>
            </a:pPr>
            <a:r>
              <a:rPr lang="en-US" sz="3099" b="1" spc="251">
                <a:solidFill>
                  <a:srgbClr val="000000"/>
                </a:solidFill>
                <a:latin typeface="TT Drugs Bold"/>
                <a:ea typeface="TT Drugs Bold"/>
                <a:cs typeface="TT Drugs Bold"/>
                <a:sym typeface="TT Drugs Bold"/>
              </a:rPr>
              <a:t>PROBLEM STATEMENT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28700" y="2280656"/>
            <a:ext cx="16230600" cy="5249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04516" lvl="1" indent="-302258" algn="l">
              <a:lnSpc>
                <a:spcPts val="3499"/>
              </a:lnSpc>
              <a:buFont typeface="Arial"/>
              <a:buChar char="•"/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Remote sensing images often contain stripe noise due to sensor limitations.</a:t>
            </a:r>
          </a:p>
          <a:p>
            <a:pPr algn="l">
              <a:lnSpc>
                <a:spcPts val="3499"/>
              </a:lnSpc>
            </a:pPr>
            <a:endParaRPr lang="en-US" sz="2799" spc="226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04516" lvl="1" indent="-302258" algn="l">
              <a:lnSpc>
                <a:spcPts val="3499"/>
              </a:lnSpc>
              <a:buFont typeface="Arial"/>
              <a:buChar char="•"/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.This noise degrades image quality and negatively affects downstream tasks such as classification, object detection, and environmental monitoring</a:t>
            </a:r>
          </a:p>
          <a:p>
            <a:pPr algn="l">
              <a:lnSpc>
                <a:spcPts val="3499"/>
              </a:lnSpc>
            </a:pPr>
            <a:endParaRPr lang="en-US" sz="2799" spc="226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04516" lvl="1" indent="-302258" algn="l">
              <a:lnSpc>
                <a:spcPts val="3499"/>
              </a:lnSpc>
              <a:buFont typeface="Arial"/>
              <a:buChar char="•"/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Existing destriping methods have limitations:</a:t>
            </a:r>
          </a:p>
          <a:p>
            <a:pPr algn="just">
              <a:lnSpc>
                <a:spcPts val="3499"/>
              </a:lnSpc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      1. Filtering/statistical methods may blur important image details.</a:t>
            </a:r>
          </a:p>
          <a:p>
            <a:pPr algn="just">
              <a:lnSpc>
                <a:spcPts val="3499"/>
              </a:lnSpc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      2. Deep learning methods require large datasets and are computationally expensive.</a:t>
            </a:r>
          </a:p>
          <a:p>
            <a:pPr algn="just">
              <a:lnSpc>
                <a:spcPts val="3499"/>
              </a:lnSpc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      3.Existing optimization methods may over-smooth or converge slowly.</a:t>
            </a:r>
          </a:p>
          <a:p>
            <a:pPr algn="just">
              <a:lnSpc>
                <a:spcPts val="3499"/>
              </a:lnSpc>
            </a:pPr>
            <a:endParaRPr lang="en-US" sz="2799" spc="226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604516" lvl="1" indent="-302258" algn="l">
              <a:lnSpc>
                <a:spcPts val="3499"/>
              </a:lnSpc>
              <a:buFont typeface="Arial"/>
              <a:buChar char="•"/>
            </a:pPr>
            <a:r>
              <a:rPr lang="en-US" sz="2799" spc="22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There is a need for an efficient, accurate method to remove stripe noise while preserving image details.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658122" y="1044321"/>
            <a:ext cx="16847745" cy="8674468"/>
            <a:chOff x="0" y="0"/>
            <a:chExt cx="4437266" cy="22846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7266" cy="2284633"/>
            </a:xfrm>
            <a:custGeom>
              <a:avLst/>
              <a:gdLst/>
              <a:ahLst/>
              <a:cxnLst/>
              <a:rect l="l" t="t" r="r" b="b"/>
              <a:pathLst>
                <a:path w="4437266" h="2284633">
                  <a:moveTo>
                    <a:pt x="0" y="0"/>
                  </a:moveTo>
                  <a:lnTo>
                    <a:pt x="4437266" y="0"/>
                  </a:lnTo>
                  <a:lnTo>
                    <a:pt x="4437266" y="2284633"/>
                  </a:lnTo>
                  <a:lnTo>
                    <a:pt x="0" y="22846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37266" cy="2322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13236105" y="2515533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8" y="0"/>
                </a:lnTo>
                <a:lnTo>
                  <a:pt x="3503898" y="471433"/>
                </a:lnTo>
                <a:lnTo>
                  <a:pt x="0" y="4714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3749640" y="5432523"/>
            <a:ext cx="5960800" cy="1237147"/>
          </a:xfrm>
          <a:custGeom>
            <a:avLst/>
            <a:gdLst/>
            <a:ahLst/>
            <a:cxnLst/>
            <a:rect l="l" t="t" r="r" b="b"/>
            <a:pathLst>
              <a:path w="5960800" h="1237147">
                <a:moveTo>
                  <a:pt x="0" y="0"/>
                </a:moveTo>
                <a:lnTo>
                  <a:pt x="5960801" y="0"/>
                </a:lnTo>
                <a:lnTo>
                  <a:pt x="5960801" y="1237147"/>
                </a:lnTo>
                <a:lnTo>
                  <a:pt x="0" y="123714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3882309" y="3623267"/>
            <a:ext cx="6873302" cy="624846"/>
          </a:xfrm>
          <a:custGeom>
            <a:avLst/>
            <a:gdLst/>
            <a:ahLst/>
            <a:cxnLst/>
            <a:rect l="l" t="t" r="r" b="b"/>
            <a:pathLst>
              <a:path w="6873302" h="624846">
                <a:moveTo>
                  <a:pt x="0" y="0"/>
                </a:moveTo>
                <a:lnTo>
                  <a:pt x="6873302" y="0"/>
                </a:lnTo>
                <a:lnTo>
                  <a:pt x="6873302" y="624845"/>
                </a:lnTo>
                <a:lnTo>
                  <a:pt x="0" y="62484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1028700" y="1428729"/>
            <a:ext cx="16423232" cy="717331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6846" lvl="1" indent="-288423" algn="just">
              <a:lnSpc>
                <a:spcPts val="3339"/>
              </a:lnSpc>
              <a:buFont typeface="Arial"/>
              <a:buChar char="•"/>
            </a:pP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Take a clean image and Generate vertical stripe noise to simulate a noisy observed image:</a:t>
            </a:r>
          </a:p>
          <a:p>
            <a:pPr algn="ctr">
              <a:lnSpc>
                <a:spcPts val="3339"/>
              </a:lnSpc>
            </a:pP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O=</a:t>
            </a:r>
            <a:r>
              <a:rPr lang="en-US" sz="2671" spc="216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D+Snoise</a:t>
            </a: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​</a:t>
            </a:r>
          </a:p>
          <a:p>
            <a:pPr algn="just">
              <a:lnSpc>
                <a:spcPts val="3339"/>
              </a:lnSpc>
            </a:pP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      where O is observed image D is the clean image and </a:t>
            </a:r>
            <a:r>
              <a:rPr lang="en-US" sz="2671" spc="216" dirty="0" err="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Snoise</a:t>
            </a: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​ is vertical stripe </a:t>
            </a:r>
            <a:r>
              <a:rPr lang="en-US" sz="2671" spc="216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noise.</a:t>
            </a: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576846" lvl="1" indent="-288423" algn="just">
              <a:lnSpc>
                <a:spcPts val="3339"/>
              </a:lnSpc>
              <a:buFont typeface="Arial"/>
              <a:buChar char="•"/>
            </a:pP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Objective Function :</a:t>
            </a: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576846" lvl="1" indent="-288423" algn="just">
              <a:lnSpc>
                <a:spcPts val="3339"/>
              </a:lnSpc>
              <a:buFont typeface="Arial"/>
              <a:buChar char="•"/>
            </a:pP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We convert the objective function into the following constrained objective function by introducing auxiliary variables A, B and C for computational efficiency.</a:t>
            </a: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576846" lvl="1" indent="-288423" algn="just">
              <a:lnSpc>
                <a:spcPts val="3339"/>
              </a:lnSpc>
              <a:buFont typeface="Arial"/>
              <a:buChar char="•"/>
            </a:pPr>
            <a:r>
              <a:rPr lang="en-US" sz="2671" spc="216" dirty="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 Formulate the weighted optimization problem</a:t>
            </a: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algn="just">
              <a:lnSpc>
                <a:spcPts val="3339"/>
              </a:lnSpc>
            </a:pPr>
            <a:endParaRPr lang="en-US" sz="2671" spc="216" dirty="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0" name="Freeform 10"/>
          <p:cNvSpPr/>
          <p:nvPr/>
        </p:nvSpPr>
        <p:spPr>
          <a:xfrm>
            <a:off x="3202749" y="7393592"/>
            <a:ext cx="11301259" cy="1864708"/>
          </a:xfrm>
          <a:custGeom>
            <a:avLst/>
            <a:gdLst/>
            <a:ahLst/>
            <a:cxnLst/>
            <a:rect l="l" t="t" r="r" b="b"/>
            <a:pathLst>
              <a:path w="11301259" h="1864708">
                <a:moveTo>
                  <a:pt x="0" y="0"/>
                </a:moveTo>
                <a:lnTo>
                  <a:pt x="11301259" y="0"/>
                </a:lnTo>
                <a:lnTo>
                  <a:pt x="11301259" y="1864708"/>
                </a:lnTo>
                <a:lnTo>
                  <a:pt x="0" y="1864708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</p:sp>
      <p:sp>
        <p:nvSpPr>
          <p:cNvPr id="11" name="TextBox 11"/>
          <p:cNvSpPr txBox="1"/>
          <p:nvPr/>
        </p:nvSpPr>
        <p:spPr>
          <a:xfrm>
            <a:off x="7318960" y="421152"/>
            <a:ext cx="3068836" cy="4298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499"/>
              </a:lnSpc>
              <a:spcBef>
                <a:spcPct val="0"/>
              </a:spcBef>
            </a:pPr>
            <a:r>
              <a:rPr lang="en-US" sz="2799" b="1" spc="226">
                <a:solidFill>
                  <a:srgbClr val="000000"/>
                </a:solidFill>
                <a:latin typeface="TT Hoves Bold"/>
                <a:ea typeface="TT Hoves Bold"/>
                <a:cs typeface="TT Hoves Bold"/>
                <a:sym typeface="TT Hoves Bold"/>
              </a:rPr>
              <a:t>METHODOLOGY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411555" y="640862"/>
            <a:ext cx="16847745" cy="8674468"/>
            <a:chOff x="0" y="0"/>
            <a:chExt cx="4437266" cy="22846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7266" cy="2284633"/>
            </a:xfrm>
            <a:custGeom>
              <a:avLst/>
              <a:gdLst/>
              <a:ahLst/>
              <a:cxnLst/>
              <a:rect l="l" t="t" r="r" b="b"/>
              <a:pathLst>
                <a:path w="4437266" h="2284633">
                  <a:moveTo>
                    <a:pt x="0" y="0"/>
                  </a:moveTo>
                  <a:lnTo>
                    <a:pt x="4437266" y="0"/>
                  </a:lnTo>
                  <a:lnTo>
                    <a:pt x="4437266" y="2284633"/>
                  </a:lnTo>
                  <a:lnTo>
                    <a:pt x="0" y="22846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37266" cy="2322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r>
                <a:rPr lang="en-US" sz="1899">
                  <a:solidFill>
                    <a:srgbClr val="000000"/>
                  </a:solidFill>
                  <a:latin typeface="Canva Sans"/>
                  <a:ea typeface="Canva Sans"/>
                  <a:cs typeface="Canva Sans"/>
                  <a:sym typeface="Canva Sans"/>
                </a:rPr>
                <a:t>v</a:t>
              </a:r>
            </a:p>
          </p:txBody>
        </p:sp>
      </p:grpSp>
      <p:sp>
        <p:nvSpPr>
          <p:cNvPr id="6" name="Freeform 6"/>
          <p:cNvSpPr/>
          <p:nvPr/>
        </p:nvSpPr>
        <p:spPr>
          <a:xfrm>
            <a:off x="2553474" y="3436173"/>
            <a:ext cx="7713836" cy="826482"/>
          </a:xfrm>
          <a:custGeom>
            <a:avLst/>
            <a:gdLst/>
            <a:ahLst/>
            <a:cxnLst/>
            <a:rect l="l" t="t" r="r" b="b"/>
            <a:pathLst>
              <a:path w="7713836" h="826482">
                <a:moveTo>
                  <a:pt x="0" y="0"/>
                </a:moveTo>
                <a:lnTo>
                  <a:pt x="7713837" y="0"/>
                </a:lnTo>
                <a:lnTo>
                  <a:pt x="7713837" y="826483"/>
                </a:lnTo>
                <a:lnTo>
                  <a:pt x="0" y="82648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553474" y="4888007"/>
            <a:ext cx="10107773" cy="517030"/>
          </a:xfrm>
          <a:custGeom>
            <a:avLst/>
            <a:gdLst/>
            <a:ahLst/>
            <a:cxnLst/>
            <a:rect l="l" t="t" r="r" b="b"/>
            <a:pathLst>
              <a:path w="10107773" h="517030">
                <a:moveTo>
                  <a:pt x="0" y="0"/>
                </a:moveTo>
                <a:lnTo>
                  <a:pt x="10107773" y="0"/>
                </a:lnTo>
                <a:lnTo>
                  <a:pt x="10107773" y="517029"/>
                </a:lnTo>
                <a:lnTo>
                  <a:pt x="0" y="5170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t="-96" b="-96"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2553474" y="6024161"/>
            <a:ext cx="9301561" cy="904937"/>
          </a:xfrm>
          <a:custGeom>
            <a:avLst/>
            <a:gdLst/>
            <a:ahLst/>
            <a:cxnLst/>
            <a:rect l="l" t="t" r="r" b="b"/>
            <a:pathLst>
              <a:path w="9301561" h="904937">
                <a:moveTo>
                  <a:pt x="0" y="0"/>
                </a:moveTo>
                <a:lnTo>
                  <a:pt x="9301561" y="0"/>
                </a:lnTo>
                <a:lnTo>
                  <a:pt x="9301561" y="904937"/>
                </a:lnTo>
                <a:lnTo>
                  <a:pt x="0" y="90493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2553474" y="7557748"/>
            <a:ext cx="11288660" cy="978540"/>
          </a:xfrm>
          <a:custGeom>
            <a:avLst/>
            <a:gdLst/>
            <a:ahLst/>
            <a:cxnLst/>
            <a:rect l="l" t="t" r="r" b="b"/>
            <a:pathLst>
              <a:path w="11288660" h="978540">
                <a:moveTo>
                  <a:pt x="0" y="0"/>
                </a:moveTo>
                <a:lnTo>
                  <a:pt x="11288660" y="0"/>
                </a:lnTo>
                <a:lnTo>
                  <a:pt x="11288660" y="978539"/>
                </a:lnTo>
                <a:lnTo>
                  <a:pt x="0" y="97853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1455076" y="1254948"/>
            <a:ext cx="7819259" cy="11747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24"/>
              </a:lnSpc>
              <a:spcBef>
                <a:spcPct val="0"/>
              </a:spcBef>
            </a:pPr>
            <a:r>
              <a:rPr lang="en-US" sz="2499" spc="20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where :</a:t>
            </a:r>
          </a:p>
          <a:p>
            <a:pPr algn="l">
              <a:lnSpc>
                <a:spcPts val="3124"/>
              </a:lnSpc>
              <a:spcBef>
                <a:spcPct val="0"/>
              </a:spcBef>
            </a:pPr>
            <a:r>
              <a:rPr lang="en-US" sz="2499" spc="20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τ1, τ2 andτ3 represent the Lagrange multipliers</a:t>
            </a:r>
          </a:p>
          <a:p>
            <a:pPr algn="l">
              <a:lnSpc>
                <a:spcPts val="3124"/>
              </a:lnSpc>
              <a:spcBef>
                <a:spcPct val="0"/>
              </a:spcBef>
            </a:pPr>
            <a:r>
              <a:rPr lang="en-US" sz="2499" spc="202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ρ1, ρ2 and ρ3 are penalty parameters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455076" y="2435976"/>
            <a:ext cx="15804224" cy="9811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59"/>
              </a:lnSpc>
            </a:pPr>
            <a:endParaRPr/>
          </a:p>
          <a:p>
            <a:pPr marL="509866" lvl="1" indent="-254933" algn="l">
              <a:lnSpc>
                <a:spcPts val="2951"/>
              </a:lnSpc>
              <a:buFont typeface="Arial"/>
              <a:buChar char="•"/>
            </a:pPr>
            <a:r>
              <a:rPr lang="en-US" sz="2361" spc="191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ADMM ITERATIVE UPDATES : </a:t>
            </a:r>
          </a:p>
          <a:p>
            <a:pPr algn="ctr">
              <a:lnSpc>
                <a:spcPts val="2459"/>
              </a:lnSpc>
              <a:spcBef>
                <a:spcPct val="0"/>
              </a:spcBef>
            </a:pPr>
            <a:endParaRPr lang="en-US" sz="2361" spc="191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893909" y="583832"/>
            <a:ext cx="16847745" cy="8674468"/>
            <a:chOff x="0" y="0"/>
            <a:chExt cx="4437266" cy="22846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4437266" cy="2284633"/>
            </a:xfrm>
            <a:custGeom>
              <a:avLst/>
              <a:gdLst/>
              <a:ahLst/>
              <a:cxnLst/>
              <a:rect l="l" t="t" r="r" b="b"/>
              <a:pathLst>
                <a:path w="4437266" h="2284633">
                  <a:moveTo>
                    <a:pt x="0" y="0"/>
                  </a:moveTo>
                  <a:lnTo>
                    <a:pt x="4437266" y="0"/>
                  </a:lnTo>
                  <a:lnTo>
                    <a:pt x="4437266" y="2284633"/>
                  </a:lnTo>
                  <a:lnTo>
                    <a:pt x="0" y="2284633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38100"/>
              <a:ext cx="4437266" cy="232273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Freeform 6"/>
          <p:cNvSpPr/>
          <p:nvPr/>
        </p:nvSpPr>
        <p:spPr>
          <a:xfrm>
            <a:off x="3655600" y="2135421"/>
            <a:ext cx="5662181" cy="2017404"/>
          </a:xfrm>
          <a:custGeom>
            <a:avLst/>
            <a:gdLst/>
            <a:ahLst/>
            <a:cxnLst/>
            <a:rect l="l" t="t" r="r" b="b"/>
            <a:pathLst>
              <a:path w="5662181" h="2017404">
                <a:moveTo>
                  <a:pt x="0" y="0"/>
                </a:moveTo>
                <a:lnTo>
                  <a:pt x="5662181" y="0"/>
                </a:lnTo>
                <a:lnTo>
                  <a:pt x="5662181" y="2017404"/>
                </a:lnTo>
                <a:lnTo>
                  <a:pt x="0" y="201740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5036237" y="5467212"/>
            <a:ext cx="2879183" cy="597863"/>
          </a:xfrm>
          <a:custGeom>
            <a:avLst/>
            <a:gdLst/>
            <a:ahLst/>
            <a:cxnLst/>
            <a:rect l="l" t="t" r="r" b="b"/>
            <a:pathLst>
              <a:path w="2879183" h="597863">
                <a:moveTo>
                  <a:pt x="0" y="0"/>
                </a:moveTo>
                <a:lnTo>
                  <a:pt x="2879184" y="0"/>
                </a:lnTo>
                <a:lnTo>
                  <a:pt x="2879184" y="597863"/>
                </a:lnTo>
                <a:lnTo>
                  <a:pt x="0" y="59786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32098" y="1268201"/>
            <a:ext cx="6299912" cy="4213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71527" lvl="1" indent="-285764" algn="l">
              <a:lnSpc>
                <a:spcPts val="3308"/>
              </a:lnSpc>
              <a:buFont typeface="Arial"/>
              <a:buChar char="•"/>
            </a:pPr>
            <a:r>
              <a:rPr lang="en-US" sz="2647" spc="214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Update Lagrange multipliers : 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001762" y="4694249"/>
            <a:ext cx="13545907" cy="12312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561337" lvl="1" indent="-280669" algn="l">
              <a:lnSpc>
                <a:spcPts val="3249"/>
              </a:lnSpc>
              <a:buFont typeface="Arial"/>
              <a:buChar char="•"/>
            </a:pPr>
            <a:r>
              <a:rPr lang="en-US" sz="2599" spc="21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Iterate until Maximum iterations reached</a:t>
            </a:r>
          </a:p>
          <a:p>
            <a:pPr algn="l">
              <a:lnSpc>
                <a:spcPts val="3249"/>
              </a:lnSpc>
            </a:pPr>
            <a:endParaRPr lang="en-US" sz="2599" spc="210">
              <a:solidFill>
                <a:srgbClr val="000000"/>
              </a:solidFill>
              <a:latin typeface="TT Hoves"/>
              <a:ea typeface="TT Hoves"/>
              <a:cs typeface="TT Hoves"/>
              <a:sym typeface="TT Hoves"/>
            </a:endParaRPr>
          </a:p>
          <a:p>
            <a:pPr marL="561337" lvl="1" indent="-280669" algn="l">
              <a:lnSpc>
                <a:spcPts val="3249"/>
              </a:lnSpc>
              <a:buFont typeface="Arial"/>
              <a:buChar char="•"/>
            </a:pPr>
            <a:r>
              <a:rPr lang="en-US" sz="2599" spc="210">
                <a:solidFill>
                  <a:srgbClr val="000000"/>
                </a:solidFill>
                <a:latin typeface="TT Hoves"/>
                <a:ea typeface="TT Hoves"/>
                <a:cs typeface="TT Hoves"/>
                <a:sym typeface="TT Hoves"/>
              </a:rPr>
              <a:t>Convergence: 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-3166238" y="640862"/>
            <a:ext cx="11538437" cy="1483210"/>
            <a:chOff x="0" y="0"/>
            <a:chExt cx="3038930" cy="39064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038930" cy="390640"/>
            </a:xfrm>
            <a:custGeom>
              <a:avLst/>
              <a:gdLst/>
              <a:ahLst/>
              <a:cxnLst/>
              <a:rect l="l" t="t" r="r" b="b"/>
              <a:pathLst>
                <a:path w="3038930" h="390640">
                  <a:moveTo>
                    <a:pt x="67097" y="0"/>
                  </a:moveTo>
                  <a:lnTo>
                    <a:pt x="2971833" y="0"/>
                  </a:lnTo>
                  <a:cubicBezTo>
                    <a:pt x="2989628" y="0"/>
                    <a:pt x="3006695" y="7069"/>
                    <a:pt x="3019278" y="19652"/>
                  </a:cubicBezTo>
                  <a:cubicBezTo>
                    <a:pt x="3031861" y="32235"/>
                    <a:pt x="3038930" y="49302"/>
                    <a:pt x="3038930" y="67097"/>
                  </a:cubicBezTo>
                  <a:lnTo>
                    <a:pt x="3038930" y="323543"/>
                  </a:lnTo>
                  <a:cubicBezTo>
                    <a:pt x="3038930" y="360599"/>
                    <a:pt x="3008890" y="390640"/>
                    <a:pt x="2971833" y="390640"/>
                  </a:cubicBezTo>
                  <a:lnTo>
                    <a:pt x="67097" y="390640"/>
                  </a:lnTo>
                  <a:cubicBezTo>
                    <a:pt x="30040" y="390640"/>
                    <a:pt x="0" y="360599"/>
                    <a:pt x="0" y="323543"/>
                  </a:cubicBezTo>
                  <a:lnTo>
                    <a:pt x="0" y="67097"/>
                  </a:lnTo>
                  <a:cubicBezTo>
                    <a:pt x="0" y="30040"/>
                    <a:pt x="30040" y="0"/>
                    <a:pt x="6709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19050"/>
              <a:ext cx="3038930" cy="40969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500"/>
                </a:lnSpc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3247301" y="8786866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9" y="0"/>
                </a:lnTo>
                <a:lnTo>
                  <a:pt x="3503899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>
            <a:off x="2170198" y="3680706"/>
            <a:ext cx="13947603" cy="4842531"/>
          </a:xfrm>
          <a:custGeom>
            <a:avLst/>
            <a:gdLst/>
            <a:ahLst/>
            <a:cxnLst/>
            <a:rect l="l" t="t" r="r" b="b"/>
            <a:pathLst>
              <a:path w="13947603" h="4842531">
                <a:moveTo>
                  <a:pt x="0" y="0"/>
                </a:moveTo>
                <a:lnTo>
                  <a:pt x="13947604" y="0"/>
                </a:lnTo>
                <a:lnTo>
                  <a:pt x="13947604" y="4842531"/>
                </a:lnTo>
                <a:lnTo>
                  <a:pt x="0" y="484253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986" r="-4986"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259004" y="956607"/>
            <a:ext cx="2865239" cy="8870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279"/>
              </a:lnSpc>
            </a:pPr>
            <a:r>
              <a:rPr lang="en-US" sz="5199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RESULTS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92B8D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-153702"/>
            <a:ext cx="16072434" cy="8520557"/>
            <a:chOff x="0" y="0"/>
            <a:chExt cx="4233069" cy="2244097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4233069" cy="2244097"/>
            </a:xfrm>
            <a:custGeom>
              <a:avLst/>
              <a:gdLst/>
              <a:ahLst/>
              <a:cxnLst/>
              <a:rect l="l" t="t" r="r" b="b"/>
              <a:pathLst>
                <a:path w="4233069" h="2244097">
                  <a:moveTo>
                    <a:pt x="0" y="0"/>
                  </a:moveTo>
                  <a:lnTo>
                    <a:pt x="4233069" y="0"/>
                  </a:lnTo>
                  <a:lnTo>
                    <a:pt x="4233069" y="2244097"/>
                  </a:lnTo>
                  <a:lnTo>
                    <a:pt x="0" y="224409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4" name="TextBox 4"/>
            <p:cNvSpPr txBox="1"/>
            <p:nvPr/>
          </p:nvSpPr>
          <p:spPr>
            <a:xfrm>
              <a:off x="0" y="-38100"/>
              <a:ext cx="4233069" cy="228219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16653114" y="640862"/>
            <a:ext cx="852752" cy="806917"/>
          </a:xfrm>
          <a:custGeom>
            <a:avLst/>
            <a:gdLst/>
            <a:ahLst/>
            <a:cxnLst/>
            <a:rect l="l" t="t" r="r" b="b"/>
            <a:pathLst>
              <a:path w="852752" h="806917">
                <a:moveTo>
                  <a:pt x="0" y="0"/>
                </a:moveTo>
                <a:lnTo>
                  <a:pt x="852752" y="0"/>
                </a:lnTo>
                <a:lnTo>
                  <a:pt x="852752" y="806917"/>
                </a:lnTo>
                <a:lnTo>
                  <a:pt x="0" y="806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AutoShape 6"/>
          <p:cNvSpPr/>
          <p:nvPr/>
        </p:nvSpPr>
        <p:spPr>
          <a:xfrm>
            <a:off x="-350272" y="9277350"/>
            <a:ext cx="14757203" cy="0"/>
          </a:xfrm>
          <a:prstGeom prst="line">
            <a:avLst/>
          </a:prstGeom>
          <a:ln w="9525" cap="flat">
            <a:solidFill>
              <a:srgbClr val="00000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 rot="5400000">
            <a:off x="15563258" y="3683627"/>
            <a:ext cx="3503898" cy="471434"/>
          </a:xfrm>
          <a:custGeom>
            <a:avLst/>
            <a:gdLst/>
            <a:ahLst/>
            <a:cxnLst/>
            <a:rect l="l" t="t" r="r" b="b"/>
            <a:pathLst>
              <a:path w="3503898" h="471434">
                <a:moveTo>
                  <a:pt x="0" y="0"/>
                </a:moveTo>
                <a:lnTo>
                  <a:pt x="3503898" y="0"/>
                </a:lnTo>
                <a:lnTo>
                  <a:pt x="3503898" y="471434"/>
                </a:lnTo>
                <a:lnTo>
                  <a:pt x="0" y="47143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812109" y="2884255"/>
            <a:ext cx="6882527" cy="15665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>
                <a:solidFill>
                  <a:srgbClr val="0000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THANK YOU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381</Words>
  <Application>Microsoft Office PowerPoint</Application>
  <PresentationFormat>Custom</PresentationFormat>
  <Paragraphs>72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8" baseType="lpstr">
      <vt:lpstr>Canva Sans</vt:lpstr>
      <vt:lpstr>TT Hoves Bold</vt:lpstr>
      <vt:lpstr>TT Hoves</vt:lpstr>
      <vt:lpstr>Arial</vt:lpstr>
      <vt:lpstr>Times New Roman</vt:lpstr>
      <vt:lpstr>TT Drugs Bold</vt:lpstr>
      <vt:lpstr>Calibri</vt:lpstr>
      <vt:lpstr>Canva Sans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Minimalist Corporate Sustainable Business Presentation</dc:title>
  <cp:lastModifiedBy>Mahalakshmi Inaganti</cp:lastModifiedBy>
  <cp:revision>1</cp:revision>
  <dcterms:created xsi:type="dcterms:W3CDTF">2006-08-16T00:00:00Z</dcterms:created>
  <dcterms:modified xsi:type="dcterms:W3CDTF">2025-10-10T17:21:54Z</dcterms:modified>
  <dc:identifier>DAGw-Ubdsyw</dc:identifier>
</cp:coreProperties>
</file>